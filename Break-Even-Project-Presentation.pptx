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ACADEMIC MINI PROJECT PRESENTATION</a:t>
            </a:r>
          </a:p>
          <a:p>
            <a:pPr>
              <a:spcBef>
                <a:spcPts val="600"/>
              </a:spcBef>
              <a:defRPr sz="2800" b="1">
                <a:solidFill>
                  <a:srgbClr val="0F172A"/>
                </a:solidFill>
              </a:defRPr>
            </a:pPr>
            <a:r>
              <a:t>Break-Even Point Predictor &amp; Feasibility Engine</a:t>
            </a:r>
          </a:p>
          <a:p>
            <a:pPr>
              <a:spcBef>
                <a:spcPts val="400"/>
              </a:spcBef>
              <a:defRPr sz="1300">
                <a:solidFill>
                  <a:srgbClr val="64748B"/>
                </a:solidFill>
              </a:defRPr>
            </a:pPr>
            <a:r>
              <a:t>Full-Stack Financial Modeling Web App with Real-Time SVG Charts &amp; Multi-Runtime Backend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291840"/>
            <a:ext cx="393192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defRPr sz="1050" b="1">
                <a:solidFill>
                  <a:srgbClr val="2563EB"/>
                </a:solidFill>
              </a:defRPr>
            </a:pPr>
            <a:r>
              <a:t>PROJECT SPECIFICATIONS</a:t>
            </a:r>
          </a:p>
          <a:p>
            <a:pPr>
              <a:spcBef>
                <a:spcPts val="250"/>
              </a:spcBef>
              <a:defRPr sz="900">
                <a:solidFill>
                  <a:srgbClr val="0F172A"/>
                </a:solidFill>
              </a:defRPr>
            </a:pPr>
            <a:r>
              <a:t>Developer: arjun2007arush2011-max</a:t>
            </a:r>
          </a:p>
          <a:p>
            <a:pPr>
              <a:spcBef>
                <a:spcPts val="250"/>
              </a:spcBef>
              <a:defRPr sz="900">
                <a:solidFill>
                  <a:srgbClr val="0F172A"/>
                </a:solidFill>
              </a:defRPr>
            </a:pPr>
            <a:r>
              <a:t>Domain: FinTech &amp; Decision Systems</a:t>
            </a:r>
          </a:p>
          <a:p>
            <a:pPr>
              <a:spcBef>
                <a:spcPts val="250"/>
              </a:spcBef>
              <a:defRPr sz="900">
                <a:solidFill>
                  <a:srgbClr val="0F172A"/>
                </a:solidFill>
              </a:defRPr>
            </a:pPr>
            <a:r>
              <a:t>Architecture: Client Vanilla ES5 + REST</a:t>
            </a:r>
          </a:p>
          <a:p>
            <a:pPr>
              <a:spcBef>
                <a:spcPts val="250"/>
              </a:spcBef>
              <a:defRPr sz="900">
                <a:solidFill>
                  <a:srgbClr val="0F172A"/>
                </a:solidFill>
              </a:defRPr>
            </a:pPr>
            <a:r>
              <a:t>Backends: Python 3 / Ruby / Node.js</a:t>
            </a:r>
          </a:p>
          <a:p>
            <a:pPr>
              <a:spcBef>
                <a:spcPts val="250"/>
              </a:spcBef>
              <a:defRPr sz="900">
                <a:solidFill>
                  <a:srgbClr val="0F172A"/>
                </a:solidFill>
              </a:defRPr>
            </a:pPr>
            <a:r>
              <a:t>Database: SQLite3 + LocalStorage</a:t>
            </a:r>
          </a:p>
          <a:p>
            <a:pPr>
              <a:spcBef>
                <a:spcPts val="250"/>
              </a:spcBef>
              <a:defRPr sz="900">
                <a:solidFill>
                  <a:srgbClr val="0F172A"/>
                </a:solidFill>
              </a:defRPr>
            </a:pPr>
            <a:r>
              <a:t>Live Web App: GitHub Pages Hosted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66360" y="3291840"/>
            <a:ext cx="128016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09728"/>
          <a:lstStyle/>
          <a:p>
            <a:pPr algn="ctr">
              <a:defRPr sz="900" b="1">
                <a:solidFill>
                  <a:srgbClr val="2563EB"/>
                </a:solidFill>
              </a:defRPr>
            </a:pPr>
            <a:r>
              <a:t>SCAN LIVE</a:t>
            </a:r>
          </a:p>
          <a:p>
            <a:pPr algn="ctr">
              <a:spcBef>
                <a:spcPts val="9200"/>
              </a:spcBef>
              <a:defRPr sz="750">
                <a:solidFill>
                  <a:srgbClr val="64748B"/>
                </a:solidFill>
              </a:defRPr>
            </a:pPr>
            <a:r>
              <a:t>Test on Phone</a:t>
            </a:r>
          </a:p>
        </p:txBody>
      </p:sp>
      <p:pic>
        <p:nvPicPr>
          <p:cNvPr id="6" name="Picture 5" descr="qrcode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3611880"/>
            <a:ext cx="1097280" cy="1097280"/>
          </a:xfrm>
          <a:prstGeom prst="rect">
            <a:avLst/>
          </a:prstGeom>
        </p:spPr>
      </p:pic>
      <p:pic>
        <p:nvPicPr>
          <p:cNvPr id="7" name="Picture 6" descr="screenshot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28016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BACKGROUND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Problem Statement &amp; Project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/>
          <a:lstStyle/>
          <a:p>
            <a:pPr algn="ctr">
              <a:defRPr sz="1200" b="1">
                <a:solidFill>
                  <a:srgbClr val="DC2626"/>
                </a:solidFill>
              </a:defRPr>
            </a:pPr>
            <a:r>
              <a:t>THE PROBLEM STATEMENT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• High Startup Mortality: Over 65% of small business failures stem from inaccurate cost estimation and a failure to identify break-even volume early.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• Spreadsheet Fragility: Static Excel files lack interactive real-time visual curves and are error-prone on mobile or collaborative settings.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• Blind Pricing Strategies: Entrepreneurs frequently set prices without analyzing per-unit variable costs, selling products at an unseen structural loss.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• Lack of Sensitivity Analysis: Traditional tools fail to simulate what happens when supplier variable costs rise by 15% or rent increases by 20%.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PROJECT OBJECTIVES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✔ Zero-Dependency Engineering: Deliver a self-contained, lightweight financial simulator operating without third-party frameworks or CDNs.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✔ Dynamic SVG Visualization: Render real-time cost curves, break-even intersection callouts, and shaded loss/profit zones.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✔ Real-Time What-If Simulations: Provide instant slider testing (-50% to +50%) and sensitivity tables to evaluate cost risks.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✔ Multi-Tier REST Integration: Implement backend APIs across Python, Ruby, and Node.js with SQLite3 database persistence.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✔ Executive Feasibility Reporting: Support one-click printable reports formatted with professional letterheads and KPI matrices.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Full-Stack System Architecture: Frontend &amp; Backend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3611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FRONTEND CLIENT TIER (Browser)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Vanilla ES5 Standards: </a:t>
            </a:r>
            <a:r>
              <a:rPr b="0">
                <a:solidFill>
                  <a:srgbClr val="64748B"/>
                </a:solidFill>
              </a:rPr>
              <a:t>Zero build pipelines, npm, or Babel. Operates natively in 100% of web browsers.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Responsive CSS Grid: </a:t>
            </a:r>
            <a:r>
              <a:rPr b="0">
                <a:solidFill>
                  <a:srgbClr val="64748B"/>
                </a:solidFill>
              </a:rPr>
              <a:t>Two-column analytical dashboard adapting smoothly to single-column mobile viewports.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Dark &amp; Light Mode Engine: </a:t>
            </a:r>
            <a:r>
              <a:rPr b="0">
                <a:solidFill>
                  <a:srgbClr val="64748B"/>
                </a:solidFill>
              </a:rPr>
              <a:t>CSS Custom Properties with persistent user theme saved in localStorage.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Client-Side Cryptography: </a:t>
            </a:r>
            <a:r>
              <a:rPr b="0">
                <a:solidFill>
                  <a:srgbClr val="64748B"/>
                </a:solidFill>
              </a:rPr>
              <a:t>Web Crypto API (crypto.subtle) SHA-256 password hashing with pure JS fallback.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Modular Namespaces: </a:t>
            </a:r>
            <a:r>
              <a:rPr b="0">
                <a:solidFill>
                  <a:srgbClr val="64748B"/>
                </a:solidFill>
              </a:rPr>
              <a:t>Separation of concerns: AuthModule, ProfileModule, MetricsModule, ChartModule, ApiClient.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3611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BACKEND SERVER &amp; DATABASE TIER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Triple-Runtime Implementations: </a:t>
            </a:r>
            <a:r>
              <a:rPr b="0">
                <a:solidFill>
                  <a:srgbClr val="64748B"/>
                </a:solidFill>
              </a:rPr>
              <a:t>Native Python 3 (http.server), Ruby (WEBrick), and Node.js. Zero pip/npm dependencies.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Universal Launcher (start.sh): </a:t>
            </a:r>
            <a:r>
              <a:rPr b="0">
                <a:solidFill>
                  <a:srgbClr val="64748B"/>
                </a:solidFill>
              </a:rPr>
              <a:t>Intelligently auto-detects the host system's installed runtime and binds on port 8000.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Relational SQLite3 Database: </a:t>
            </a:r>
            <a:r>
              <a:rPr b="0">
                <a:solidFill>
                  <a:srgbClr val="64748B"/>
                </a:solidFill>
              </a:rPr>
              <a:t>Structured breakeven.db with normalized schemas for users, profiles, and inputs.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RESTful JSON API Contract: </a:t>
            </a:r>
            <a:r>
              <a:rPr b="0">
                <a:solidFill>
                  <a:srgbClr val="64748B"/>
                </a:solidFill>
              </a:rPr>
              <a:t>Endpoints for /api/auth/signup, /api/auth/login, /api/profile, /api/inputs, /api/calculate.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Server Mathematical Validation: </a:t>
            </a:r>
            <a:r>
              <a:rPr b="0">
                <a:solidFill>
                  <a:srgbClr val="64748B"/>
                </a:solidFill>
              </a:rPr>
              <a:t>Performs secondary verification of break-even formulas to enforce data integrity.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120640"/>
            <a:ext cx="10698480" cy="1280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100" b="1">
                <a:solidFill>
                  <a:srgbClr val="7C3AED"/>
                </a:solidFill>
              </a:defRPr>
            </a:pPr>
            <a:r>
              <a:t>REST API PROTOCOL &amp; RESILIENT DUAL-ENGINE SYNCHRONIZATION BRIDGE (Frontend ⟷ Backend)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</a:defRPr>
            </a:pPr>
            <a:r>
              <a:t>• Debounced REST Sync: Client debounces user input (300ms) and dispatches JSON payloads with Bearer auth headers (Authorization: Bearer &lt;token&gt;) to /api/inputs and /api/profile.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</a:defRPr>
            </a:pPr>
            <a:r>
              <a:t>• Resilient Dual Persistence: ApiClient probes /api/health. If server is active, data saves to SQLite3; if offline or hosted on GitHub Pages (file://), it gracefully falls back to localStorage with zero downtime.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VISUALIZATION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Interactive SVG Chart &amp; Visualization Engine</a:t>
            </a:r>
          </a:p>
        </p:txBody>
      </p:sp>
      <p:pic>
        <p:nvPicPr>
          <p:cNvPr id="4" name="Picture 3" descr="screensho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486400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92240" y="1463040"/>
            <a:ext cx="49377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7C3AED"/>
                </a:solidFill>
              </a:defRPr>
            </a:pPr>
            <a:r>
              <a:t>CUSTOM COORDINATE MAPPING ENGINE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</a:defRPr>
            </a:pPr>
            <a:r>
              <a:t>• No Third-Party Charting Libraries: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All graphics generated dynamically via native inline SVG elements, avoiding heavy dependencies like Chart.js or D3.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</a:defRPr>
            </a:pPr>
            <a:r>
              <a:t>• Dynamic Coordinate Projection: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Translates financial values into SVG viewBox space using getX(q) and getY(val) with dynamic domain bounds.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</a:defRPr>
            </a:pPr>
            <a:r>
              <a:t>• Visual Profit &amp; Loss Polygons: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Shades the operating loss zone in red (0 to Break-Even) and profit zone in green (Break-Even to Max Volume).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</a:defRPr>
            </a:pPr>
            <a:r>
              <a:t>• Break-Even Callout Point: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Highlights the exact intersection point of Total Revenue and Total Cost with a pulsing halo and coordinate badge.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</a:defRPr>
            </a:pPr>
            <a:r>
              <a:t>• Interactive Crosshair &amp; Tooltip: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Hover/touch tracking computes volume, revenue, costs, and profit with 60fps responsiveness.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FINANCIAL MODEL &amp;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Mathematical Formulation &amp; Core Financial Algorithms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CORE BREAK-EVEN EQUATIONS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Contribution Margin (CM): CM = Selling Price (P) - Variable Cost (V)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Contribution Margin Ratio: CM% = (P - V) / P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Break-Even Volume (Units): Q_BE = Fixed Costs (F) / (P - V)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Break-Even Sales Revenue: R_BE = Q_BE × P = F / CM%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Net Operating Profit: Profit = Q × (P - V) - F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Margin of Safety (MOS): MOS = (Q - Q_BE) / Q × 100%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Degree of Operating Leverage: DOL = (Q × CM) / Profit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Target Profit Units: Q_Target = (F + Target) / CM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ALGORITHMIC GUARDS &amp; INTEGRITY CHECKS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✔ Structural Loss Detection (P ≤ V):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Instantly flags when price does not exceed variable costs. Prevents division-by-zero exceptions and alerts that every unit sold widens net deficit.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✔ Sub-Break-Even Operating Alert: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Dynamically signals danger when planned sales volume Q &lt; Q_BE, detailing the precise unit deficit required to achieve solvency.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✔ Precision Floating-Point Normalization: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Sanitizes user currency entries and eliminates IEEE 754 floating-point inaccuracies through explicit rounding rules.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✔ Client-Server Calculation Parity: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Validates client results against backend /api/calculate endpoints to guarantee consistent cross-platform mathematical output.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SIMULATION &amp;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What-If Sensitivity Simulations &amp; Scenario Planning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REAL-TIME WHAT-IF SLIDERS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Bidirectional Sliders (-50% to +50%):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Instant continuous adjustment of Selling Price, Variable Cost, and Fixed Costs.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Live Delta &amp; Variance Badges: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Computes real-time percentage shifts and absolute monetary changes against base parameters.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Immediate Visual Curve Morphing: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Recalculates the SVG graph at 60fps, visually shifting the intersection point along the volume axis.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One-Click Baseline Restoration: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Resets all simulation parameters back to saved user baselines without page reloads.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STRESS TESTING &amp; REPORT GENERATION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Pre-Loaded Industry Presets: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1-click templates for Cafe, SaaS, E-Commerce, Manufacturing, Clinic, and Agency.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5-Tier Sensitivity Matrix Table: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Evaluates Required BE Units when each driver shifts by -20%, -10%, 0%, +10%, and +20%.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Volume Scenario Forecasting: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Projects outcomes under Pessimistic (-25% volume), Expected Base, and Optimistic (+25% volume) market conditions.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Executive Printable Report: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Dedicated @media print layout with letterhead and scannable mobile QR code.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CONCLUSION &amp;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Project Results, Live Deployment &amp; 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1148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KEY DELIVERABLES &amp; OUTCOMES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</a:defRPr>
            </a:pPr>
            <a:r>
              <a:t>✔ Live Production Deployment: Successfully deployed globally on GitHub Pages at https://arjun2007arush2011-max.github.io/break_even_point/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</a:defRPr>
            </a:pPr>
            <a:r>
              <a:t>✔ Zero Third-Party Dependencies: Operates entirely standalone in any browser with zero node_modules or CDN downloads.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</a:defRPr>
            </a:pPr>
            <a:r>
              <a:t>✔ High Performance: Sub-millisecond mathematical recalculation with smooth 60fps SVG rendering.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</a:defRPr>
            </a:pPr>
            <a:r>
              <a:t>✔ Clean Print Reports: Built-in @media print executive feasibility report for stakeholders and investors.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</a:defRPr>
            </a:pPr>
            <a:r>
              <a:t>✔ Search-Engine Ready: Integrated with robots.txt, sitemap.xml, and OpenGraph metadata.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463040"/>
            <a:ext cx="41148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ACADEMIC IMPACT &amp; FUTURE SCOPE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Cross-Disciplinary Learning: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</a:defRPr>
            </a:pPr>
            <a:r>
              <a:t>  Combines financial accounting, web engineering, database architecture, and computer graphics algorithms.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Multi-Product Inventory Mix: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</a:defRPr>
            </a:pPr>
            <a:r>
              <a:t>  Future scope to support multi-item catalog weighting for complex retail operations.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Monte Carlo Stochastic Modeling: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</a:defRPr>
            </a:pPr>
            <a:r>
              <a:t>  Adding probability distribution curves to model demand uncertainty.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Open-Source Codebase: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</a:defRPr>
            </a:pPr>
            <a:r>
              <a:t>  Complete source code, multi-runtime backends, and documentation publicly available.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0" y="1463040"/>
            <a:ext cx="2103120" cy="4663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64592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TEST LIVE DEMO</a:t>
            </a:r>
          </a:p>
          <a:p>
            <a:pPr algn="ctr">
              <a:spcBef>
                <a:spcPts val="200"/>
              </a:spcBef>
              <a:defRPr sz="800">
                <a:solidFill>
                  <a:srgbClr val="64748B"/>
                </a:solidFill>
              </a:defRPr>
            </a:pPr>
            <a:r>
              <a:t>Scan with your phone:</a:t>
            </a:r>
          </a:p>
          <a:p>
            <a:pPr algn="ctr">
              <a:spcBef>
                <a:spcPts val="14000"/>
              </a:spcBef>
              <a:defRPr sz="950" b="1">
                <a:solidFill>
                  <a:srgbClr val="0F172A"/>
                </a:solidFill>
              </a:defRPr>
            </a:pPr>
            <a:r>
              <a:t>Live Web App</a:t>
            </a:r>
          </a:p>
          <a:p>
            <a:pPr algn="ctr">
              <a:defRPr sz="750">
                <a:solidFill>
                  <a:srgbClr val="2563EB"/>
                </a:solidFill>
              </a:defRPr>
            </a:pPr>
            <a:r>
              <a:t>github.io/break_even_point</a:t>
            </a:r>
          </a:p>
          <a:p>
            <a:pPr algn="ctr">
              <a:spcBef>
                <a:spcPts val="800"/>
              </a:spcBef>
              <a:defRPr sz="800">
                <a:solidFill>
                  <a:srgbClr val="64748B"/>
                </a:solidFill>
              </a:defRPr>
            </a:pPr>
            <a:r>
              <a:t>GitHub Repository:</a:t>
            </a:r>
          </a:p>
          <a:p>
            <a:pPr algn="ctr">
              <a:defRPr sz="750" b="1">
                <a:solidFill>
                  <a:srgbClr val="0F172A"/>
                </a:solidFill>
              </a:defRPr>
            </a:pPr>
            <a:r>
              <a:t>arjun2007arush2011-max</a:t>
            </a:r>
            <a:br/>
            <a:r>
              <a:t>/break_even_point</a:t>
            </a:r>
          </a:p>
        </p:txBody>
      </p:sp>
      <p:pic>
        <p:nvPicPr>
          <p:cNvPr id="7" name="Picture 6" descr="qrcode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2148840"/>
            <a:ext cx="1645920" cy="1645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