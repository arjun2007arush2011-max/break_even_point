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5943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ACADEMIC MINI PROJECT PRESENTATION</a:t>
            </a:r>
          </a:p>
          <a:p>
            <a:pPr>
              <a:spcBef>
                <a:spcPts val="600"/>
              </a:spcBef>
              <a:defRPr sz="2800" b="1">
                <a:solidFill>
                  <a:srgbClr val="0F172A"/>
                </a:solidFill>
              </a:defRPr>
            </a:pPr>
            <a:r>
              <a:t>Break-Even Point Predictor &amp; Feasibility Engine</a:t>
            </a:r>
          </a:p>
          <a:p>
            <a:pPr>
              <a:spcBef>
                <a:spcPts val="400"/>
              </a:spcBef>
              <a:defRPr sz="1300">
                <a:solidFill>
                  <a:srgbClr val="64748B"/>
                </a:solidFill>
              </a:defRPr>
            </a:pPr>
            <a:r>
              <a:t>Full-Stack Financial Modeling Web App with Real-Time SVG Charts &amp; Multi-Runtime Backend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3291840"/>
            <a:ext cx="530352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PROJECT SPECIFICATIONS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</a:defRPr>
            </a:pPr>
            <a:r>
              <a:t>Student / Developer: arjun2007arush2011-max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</a:defRPr>
            </a:pPr>
            <a:r>
              <a:t>Live Web Application: https://arjun2007arush2011-max.github.io/break_even_point/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</a:defRPr>
            </a:pPr>
            <a:r>
              <a:t>GitHub Repository: https://github.com/arjun2007arush2011-max/break_even_point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</a:defRPr>
            </a:pPr>
            <a:r>
              <a:t>Domain: FinTech &amp; Decision Support Systems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</a:defRPr>
            </a:pPr>
            <a:r>
              <a:t>Architecture: Client-Side Zero-Dependency + REST Backends</a:t>
            </a:r>
          </a:p>
        </p:txBody>
      </p:sp>
      <p:pic>
        <p:nvPicPr>
          <p:cNvPr id="5" name="Picture 4" descr="screenshot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280160"/>
            <a:ext cx="43891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BACKGROUND &amp;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Problem Statement &amp; Project Objectives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74320"/>
          <a:lstStyle/>
          <a:p>
            <a:pPr algn="ctr">
              <a:defRPr sz="1200" b="1">
                <a:solidFill>
                  <a:srgbClr val="DC2626"/>
                </a:solidFill>
              </a:defRPr>
            </a:pPr>
            <a:r>
              <a:t>THE PROBLEM STATEMENT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• High Startup Mortality: Over 65% of small business failures stem from inaccurate cost estimation and a failure to identify break-even volume early.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• Spreadsheet Fragility: Static Excel files lack interactive real-time visual curves and are error-prone on mobile or collaborative settings.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• Blind Pricing Strategies: Entrepreneurs frequently set prices without analyzing per-unit variable costs, selling products at an unseen structural loss.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• Lack of Sensitivity Analysis: Traditional tools fail to simulate what happens when supplier variable costs rise by 15% or rent increases by 20%.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74320"/>
          <a:lstStyle/>
          <a:p>
            <a:pPr algn="ctr">
              <a:defRPr sz="1200" b="1">
                <a:solidFill>
                  <a:srgbClr val="059669"/>
                </a:solidFill>
              </a:defRPr>
            </a:pPr>
            <a:r>
              <a:t>PROJECT OBJECTIVES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✔ Zero-Dependency Engineering: Deliver a self-contained, lightweight financial simulator operating without third-party frameworks or CDNs.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✔ Dynamic SVG Visualization: Render real-time cost curves, break-even intersection callouts, and shaded loss/profit zones.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✔ Real-Time What-If Simulations: Provide instant slider testing (-50% to +50%) and sensitivity tables to evaluate cost risks.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✔ Multi-Tier REST Integration: Implement backend APIs across Python, Ruby, and Node.js with SQLite3 database persistence.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✔ Executive Feasibility Reporting: Support one-click printable reports formatted with professional letterheads and KPI matrices.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FRONTEND TIER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Frontend Architecture &amp; User Interface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FRONTEND DESIGN &amp; USER EXPERIENCE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</a:defRPr>
            </a:pPr>
            <a:r>
              <a:t>Vanilla ES5 Architecture: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Strict ES5 standards ensuring 100% universal browser compatibility without Babel or bundling overhead.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</a:defRPr>
            </a:pPr>
            <a:r>
              <a:t>Responsive Two-Column Layout: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Adapts automatically from a two-column desktop grid to an optimized single-column mobile view.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</a:defRPr>
            </a:pPr>
            <a:r>
              <a:t>Dark &amp; Light Mode: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Managed via CSS custom properties with persistent preference saved in localStorage.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</a:defRPr>
            </a:pPr>
            <a:r>
              <a:t>Client-Side SHA-256 Hashing: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Passwords hashed via browser Web Crypto API (crypto.subtle) before storage with pure JS fallback.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</a:defRPr>
            </a:pPr>
            <a:r>
              <a:t>Modular Namespaces: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Clear separation of concerns across AuthModule, ProfileModule, MetricsModule, ChartModule, and ApiClient.</a:t>
            </a:r>
          </a:p>
        </p:txBody>
      </p:sp>
      <p:pic>
        <p:nvPicPr>
          <p:cNvPr id="5" name="Picture 4" descr="screenshot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463040"/>
            <a:ext cx="512064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VISUALIZATION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Interactive SVG Chart &amp; Visualization Engine</a:t>
            </a:r>
          </a:p>
        </p:txBody>
      </p:sp>
      <p:pic>
        <p:nvPicPr>
          <p:cNvPr id="4" name="Picture 3" descr="screenshot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5486400" cy="4663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92240" y="1463040"/>
            <a:ext cx="493776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200" b="1">
                <a:solidFill>
                  <a:srgbClr val="7C3AED"/>
                </a:solidFill>
              </a:defRPr>
            </a:pPr>
            <a:r>
              <a:t>CUSTOM COORDINATE MAPPING ENGINE</a:t>
            </a:r>
          </a:p>
          <a:p>
            <a:pPr>
              <a:spcBef>
                <a:spcPts val="500"/>
              </a:spcBef>
              <a:defRPr sz="1050" b="1">
                <a:solidFill>
                  <a:srgbClr val="0F172A"/>
                </a:solidFill>
              </a:defRPr>
            </a:pPr>
            <a:r>
              <a:t>• No Third-Party Charting Libraries: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All graphics generated dynamically via native inline SVG elements, avoiding heavy dependencies like Chart.js or D3.</a:t>
            </a:r>
          </a:p>
          <a:p>
            <a:pPr>
              <a:spcBef>
                <a:spcPts val="500"/>
              </a:spcBef>
              <a:defRPr sz="1050" b="1">
                <a:solidFill>
                  <a:srgbClr val="0F172A"/>
                </a:solidFill>
              </a:defRPr>
            </a:pPr>
            <a:r>
              <a:t>• Dynamic Coordinate Projection: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Translates financial values into SVG viewBox space using getX(q) and getY(val) with dynamic domain bounds.</a:t>
            </a:r>
          </a:p>
          <a:p>
            <a:pPr>
              <a:spcBef>
                <a:spcPts val="500"/>
              </a:spcBef>
              <a:defRPr sz="1050" b="1">
                <a:solidFill>
                  <a:srgbClr val="0F172A"/>
                </a:solidFill>
              </a:defRPr>
            </a:pPr>
            <a:r>
              <a:t>• Visual Profit &amp; Loss Polygons: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Shades the operating loss zone in red (0 to Break-Even) and profit zone in green (Break-Even to Max Volume).</a:t>
            </a:r>
          </a:p>
          <a:p>
            <a:pPr>
              <a:spcBef>
                <a:spcPts val="500"/>
              </a:spcBef>
              <a:defRPr sz="1050" b="1">
                <a:solidFill>
                  <a:srgbClr val="0F172A"/>
                </a:solidFill>
              </a:defRPr>
            </a:pPr>
            <a:r>
              <a:t>• Break-Even Callout Point: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Highlights the exact intersection point of Total Revenue and Total Cost with a pulsing halo and coordinate badge.</a:t>
            </a:r>
          </a:p>
          <a:p>
            <a:pPr>
              <a:spcBef>
                <a:spcPts val="500"/>
              </a:spcBef>
              <a:defRPr sz="1050" b="1">
                <a:solidFill>
                  <a:srgbClr val="0F172A"/>
                </a:solidFill>
              </a:defRPr>
            </a:pPr>
            <a:r>
              <a:t>• Interactive Crosshair &amp; Tooltip: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Hover/touch tracking computes volume, revenue, costs, and profit with 60fps responsiveness.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BACKEND &amp; DATABASE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Backend Architecture, REST APIs &amp; SQLite3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TRIPLE-RUNTIME BACKEND SERVERS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</a:defRPr>
            </a:pPr>
            <a:r>
              <a:t>Python 3 Server (server.py):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Built with native http.server and sqlite3. Zero pip packages required.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</a:defRPr>
            </a:pPr>
            <a:r>
              <a:t>Ruby Server (server.rb):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Built with WEBrick and native sqlite3 gem. Zero bundler/gem installs needed.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</a:defRPr>
            </a:pPr>
            <a:r>
              <a:t>Node.js Server (server.js):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Built with standard http, crypto, and fs modules.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</a:defRPr>
            </a:pPr>
            <a:r>
              <a:t>Universal Launcher (start.sh):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Auto-detects which runtime is installed on the host and starts on port 8000.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</a:defRPr>
            </a:pPr>
            <a:r>
              <a:t>Relational SQLite Database (breakeven.db):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Structured schemas for Users (with SHA-256 tokens), Business Profiles, and Cost Inputs.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200" b="1">
                <a:solidFill>
                  <a:srgbClr val="059669"/>
                </a:solidFill>
              </a:defRPr>
            </a:pPr>
            <a:r>
              <a:t>REST API CONTRACT &amp; PERSISTENCE FLOW</a:t>
            </a:r>
          </a:p>
          <a:p>
            <a:pPr>
              <a:spcBef>
                <a:spcPts val="500"/>
              </a:spcBef>
              <a:defRPr sz="950">
                <a:solidFill>
                  <a:srgbClr val="0F172A"/>
                </a:solidFill>
              </a:defRPr>
            </a:pPr>
            <a:r>
              <a:t>• POST /api/auth/signup: Registers user, hashes password, seeds default profile &amp; inputs.</a:t>
            </a:r>
          </a:p>
          <a:p>
            <a:pPr>
              <a:spcBef>
                <a:spcPts val="500"/>
              </a:spcBef>
              <a:defRPr sz="950">
                <a:solidFill>
                  <a:srgbClr val="0F172A"/>
                </a:solidFill>
              </a:defRPr>
            </a:pPr>
            <a:r>
              <a:t>• POST /api/auth/login: Authenticates credentials and returns a 24-byte bearer token.</a:t>
            </a:r>
          </a:p>
          <a:p>
            <a:pPr>
              <a:spcBef>
                <a:spcPts val="500"/>
              </a:spcBef>
              <a:defRPr sz="950">
                <a:solidFill>
                  <a:srgbClr val="0F172A"/>
                </a:solidFill>
              </a:defRPr>
            </a:pPr>
            <a:r>
              <a:t>• GET /api/auth/me: Validates session token and returns user profile &amp; inputs.</a:t>
            </a:r>
          </a:p>
          <a:p>
            <a:pPr>
              <a:spcBef>
                <a:spcPts val="500"/>
              </a:spcBef>
              <a:defRPr sz="950">
                <a:solidFill>
                  <a:srgbClr val="0F172A"/>
                </a:solidFill>
              </a:defRPr>
            </a:pPr>
            <a:r>
              <a:t>• GET &amp; POST /api/profile: Retrieves and updates business metadata in SQLite3.</a:t>
            </a:r>
          </a:p>
          <a:p>
            <a:pPr>
              <a:spcBef>
                <a:spcPts val="500"/>
              </a:spcBef>
              <a:defRPr sz="950">
                <a:solidFill>
                  <a:srgbClr val="0F172A"/>
                </a:solidFill>
              </a:defRPr>
            </a:pPr>
            <a:r>
              <a:t>• GET &amp; POST /api/inputs: Persists cost drivers with debounced client auto-saving.</a:t>
            </a:r>
          </a:p>
          <a:p>
            <a:pPr>
              <a:spcBef>
                <a:spcPts val="500"/>
              </a:spcBef>
              <a:defRPr sz="950">
                <a:solidFill>
                  <a:srgbClr val="0F172A"/>
                </a:solidFill>
              </a:defRPr>
            </a:pPr>
            <a:r>
              <a:t>• POST /api/calculate: Server-side verification of mathematical break-even model.</a:t>
            </a:r>
          </a:p>
          <a:p>
            <a:pPr>
              <a:spcBef>
                <a:spcPts val="800"/>
              </a:spcBef>
              <a:defRPr sz="1050" b="1">
                <a:solidFill>
                  <a:srgbClr val="7C3AED"/>
                </a:solidFill>
              </a:defRPr>
            </a:pPr>
            <a:r>
              <a:t>Dual-Engine Resilience Logic:</a:t>
            </a:r>
          </a:p>
          <a:p>
            <a:pPr>
              <a:spcBef>
                <a:spcPts val="100"/>
              </a:spcBef>
              <a:defRPr sz="900">
                <a:solidFill>
                  <a:srgbClr val="64748B"/>
                </a:solidFill>
              </a:defRPr>
            </a:pPr>
            <a:r>
              <a:t>The ApiClient probes /api/health. If connected, data writes to SQLite3; if the server is offline or opened as file://, it gracefully falls back to localStorage.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ANALYTICS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Mathematical Model &amp; What-If Simulations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FINANCIAL MODEL EQUATIONS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Contribution Margin (CM): CM = Selling Price (P) - Variable Cost (V)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Contribution Margin Ratio: CM% = (P - V) / P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Break-Even Volume (Units): Q_BE = Fixed Costs (F) / (P - V)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Break-Even Revenue: R_BE = Q_BE × P = F / CM%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Net Operating Profit: Profit = Q × (P - V) - F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Margin of Safety (MOS): MOS = (Q - Q_BE) / Q × 100%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Degree of Operating Leverage: DOL = (Q × CM) / Profit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Target Profit Units: Q_Target = (F + Target) / CM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200" b="1">
                <a:solidFill>
                  <a:srgbClr val="059669"/>
                </a:solidFill>
              </a:defRPr>
            </a:pPr>
            <a:r>
              <a:t>WHAT-IF SIMULATIONS &amp; STRESS MATRICES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</a:defRPr>
            </a:pPr>
            <a:r>
              <a:t>Real-Time What-If Sliders: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Dual-direction sliders (-50% to +50%) for Price, Var Cost, and Fixed Costs compute live variances versus baseline.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</a:defRPr>
            </a:pPr>
            <a:r>
              <a:t>Sensitivity Matrix Table: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Evaluates Required BE Units when each driver shifts by -20%, -10%, 0%, +10%, and +20%.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</a:defRPr>
            </a:pPr>
            <a:r>
              <a:t>Volume Scenario Table: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Projects outcomes under Pessimistic (-25% volume), Expected Base, and Optimistic (+25% volume) market conditions.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</a:defRPr>
            </a:pPr>
            <a:r>
              <a:t>Automated Feasibility Guards: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Immediately detects and warns if Price ≤ Variable Cost (structural loss condition) or if planned volume Q &lt; Q_BE.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CONCLUSION &amp;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Project Results, Live Deployment &amp; Conclusion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DELIVERABLES &amp; OUTCOMES</a:t>
            </a:r>
          </a:p>
          <a:p>
            <a:pPr>
              <a:spcBef>
                <a:spcPts val="700"/>
              </a:spcBef>
              <a:defRPr sz="1050">
                <a:solidFill>
                  <a:srgbClr val="0F172A"/>
                </a:solidFill>
              </a:defRPr>
            </a:pPr>
            <a:r>
              <a:t>✔ Live Production Deployment: Successfully deployed and hosted globally on GitHub Pages at https://arjun2007arush2011-max.github.io/break_even_point/</a:t>
            </a:r>
          </a:p>
          <a:p>
            <a:pPr>
              <a:spcBef>
                <a:spcPts val="700"/>
              </a:spcBef>
              <a:defRPr sz="1050">
                <a:solidFill>
                  <a:srgbClr val="0F172A"/>
                </a:solidFill>
              </a:defRPr>
            </a:pPr>
            <a:r>
              <a:t>✔ Zero Third-Party Dependencies: Operates entirely standalone in any browser with zero node_modules or CDN downloads.</a:t>
            </a:r>
          </a:p>
          <a:p>
            <a:pPr>
              <a:spcBef>
                <a:spcPts val="700"/>
              </a:spcBef>
              <a:defRPr sz="1050">
                <a:solidFill>
                  <a:srgbClr val="0F172A"/>
                </a:solidFill>
              </a:defRPr>
            </a:pPr>
            <a:r>
              <a:t>✔ High Performance: Sub-millisecond mathematical recalculation with smooth 60fps SVG rendering.</a:t>
            </a:r>
          </a:p>
          <a:p>
            <a:pPr>
              <a:spcBef>
                <a:spcPts val="700"/>
              </a:spcBef>
              <a:defRPr sz="1050">
                <a:solidFill>
                  <a:srgbClr val="0F172A"/>
                </a:solidFill>
              </a:defRPr>
            </a:pPr>
            <a:r>
              <a:t>✔ Clean Print Reports: Built-in @media print executive feasibility report for stakeholders and investors.</a:t>
            </a:r>
          </a:p>
          <a:p>
            <a:pPr>
              <a:spcBef>
                <a:spcPts val="700"/>
              </a:spcBef>
              <a:defRPr sz="1050">
                <a:solidFill>
                  <a:srgbClr val="0F172A"/>
                </a:solidFill>
              </a:defRPr>
            </a:pPr>
            <a:r>
              <a:t>✔ Search-Engine Ready: Integrated with robots.txt, sitemap.xml, and OpenGraph metadata.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200" b="1">
                <a:solidFill>
                  <a:srgbClr val="059669"/>
                </a:solidFill>
              </a:defRPr>
            </a:pPr>
            <a:r>
              <a:t>ACADEMIC IMPACT &amp; FUTURE SCOPE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</a:defRPr>
            </a:pPr>
            <a:r>
              <a:t>Cross-Disciplinary Learning: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Combines financial accounting, web engineering, database architecture, and computer graphics algorithms.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</a:defRPr>
            </a:pPr>
            <a:r>
              <a:t>Multi-Product Inventory Mix: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Future scope to support multi-item catalog weighting for complex retail operations.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</a:defRPr>
            </a:pPr>
            <a:r>
              <a:t>Monte Carlo Stochastic Modeling: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Adding probability distribution curves to model demand uncertainty.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</a:defRPr>
            </a:pPr>
            <a:r>
              <a:t>Live Demonstration URL: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https://arjun2007arush2011-max.github.io/break_even_point/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